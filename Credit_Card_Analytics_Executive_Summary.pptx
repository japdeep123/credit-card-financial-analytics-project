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6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pdeep Singh" userId="d4c11e071793d567" providerId="LiveId" clId="{0249DBD5-ECCE-473A-94AB-3CF8C8A24612}"/>
    <pc:docChg chg="undo custSel modSld">
      <pc:chgData name="Japdeep Singh" userId="d4c11e071793d567" providerId="LiveId" clId="{0249DBD5-ECCE-473A-94AB-3CF8C8A24612}" dt="2026-07-20T13:52:01.302" v="104" actId="108"/>
      <pc:docMkLst>
        <pc:docMk/>
      </pc:docMkLst>
      <pc:sldChg chg="modSp mod">
        <pc:chgData name="Japdeep Singh" userId="d4c11e071793d567" providerId="LiveId" clId="{0249DBD5-ECCE-473A-94AB-3CF8C8A24612}" dt="2026-07-20T13:43:35.745" v="51" actId="20577"/>
        <pc:sldMkLst>
          <pc:docMk/>
          <pc:sldMk cId="0" sldId="256"/>
        </pc:sldMkLst>
        <pc:spChg chg="mod">
          <ac:chgData name="Japdeep Singh" userId="d4c11e071793d567" providerId="LiveId" clId="{0249DBD5-ECCE-473A-94AB-3CF8C8A24612}" dt="2026-07-20T13:43:35.745" v="51" actId="20577"/>
          <ac:spMkLst>
            <pc:docMk/>
            <pc:sldMk cId="0" sldId="256"/>
            <ac:spMk id="13" creationId="{00000000-0000-0000-0000-000000000000}"/>
          </ac:spMkLst>
        </pc:spChg>
      </pc:sldChg>
      <pc:sldChg chg="modSp mod">
        <pc:chgData name="Japdeep Singh" userId="d4c11e071793d567" providerId="LiveId" clId="{0249DBD5-ECCE-473A-94AB-3CF8C8A24612}" dt="2026-07-20T13:52:01.302" v="104" actId="108"/>
        <pc:sldMkLst>
          <pc:docMk/>
          <pc:sldMk cId="0" sldId="264"/>
        </pc:sldMkLst>
        <pc:spChg chg="mod">
          <ac:chgData name="Japdeep Singh" userId="d4c11e071793d567" providerId="LiveId" clId="{0249DBD5-ECCE-473A-94AB-3CF8C8A24612}" dt="2026-07-20T13:52:01.302" v="104" actId="108"/>
          <ac:spMkLst>
            <pc:docMk/>
            <pc:sldMk cId="0" sldId="264"/>
            <ac:spMk id="1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B02-4ED1-B049-69D2B207C481}"/>
              </c:ext>
            </c:extLst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B02-4ED1-B049-69D2B207C48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B02-4ED1-B049-69D2B207C48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B02-4ED1-B049-69D2B207C48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</c:v>
                </c:pt>
                <c:pt idx="1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02-4ED1-B049-69D2B207C4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D3A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 $40K</c:v>
                </c:pt>
                <c:pt idx="1">
                  <c:v>$40K–60K</c:v>
                </c:pt>
                <c:pt idx="2">
                  <c:v>$60K–80K</c:v>
                </c:pt>
                <c:pt idx="3">
                  <c:v>$80K–120K</c:v>
                </c:pt>
                <c:pt idx="4">
                  <c:v>$120K+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1500</c:v>
                </c:pt>
                <c:pt idx="1">
                  <c:v>3200</c:v>
                </c:pt>
                <c:pt idx="2">
                  <c:v>2800</c:v>
                </c:pt>
                <c:pt idx="3">
                  <c:v>1900</c:v>
                </c:pt>
                <c:pt idx="4">
                  <c:v>893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79-44EE-88BC-003BFB8B21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Amount</c:v>
                </c:pt>
              </c:strCache>
            </c:strRef>
          </c:tx>
          <c:spPr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3200</c:v>
                </c:pt>
                <c:pt idx="1">
                  <c:v>3450</c:v>
                </c:pt>
                <c:pt idx="2">
                  <c:v>3100</c:v>
                </c:pt>
                <c:pt idx="3">
                  <c:v>3800</c:v>
                </c:pt>
                <c:pt idx="4">
                  <c:v>4200</c:v>
                </c:pt>
                <c:pt idx="5">
                  <c:v>3900</c:v>
                </c:pt>
                <c:pt idx="6">
                  <c:v>4100</c:v>
                </c:pt>
                <c:pt idx="7">
                  <c:v>4500</c:v>
                </c:pt>
                <c:pt idx="8">
                  <c:v>4300</c:v>
                </c:pt>
                <c:pt idx="9">
                  <c:v>4700</c:v>
                </c:pt>
                <c:pt idx="10">
                  <c:v>4900</c:v>
                </c:pt>
                <c:pt idx="11">
                  <c:v>5100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A32-49C1-A85D-9F5BF61E39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($K)</c:v>
                </c:pt>
              </c:strCache>
            </c:strRef>
          </c:tx>
          <c:spPr>
            <a:solidFill>
              <a:srgbClr val="2D3A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Bills</c:v>
                </c:pt>
                <c:pt idx="1">
                  <c:v>Entertainment</c:v>
                </c:pt>
                <c:pt idx="2">
                  <c:v>Fuel</c:v>
                </c:pt>
                <c:pt idx="3">
                  <c:v>Grocery</c:v>
                </c:pt>
                <c:pt idx="4">
                  <c:v>Food</c:v>
                </c:pt>
                <c:pt idx="5">
                  <c:v>Travel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12500</c:v>
                </c:pt>
                <c:pt idx="1">
                  <c:v>9800</c:v>
                </c:pt>
                <c:pt idx="2">
                  <c:v>8200</c:v>
                </c:pt>
                <c:pt idx="3">
                  <c:v>7600</c:v>
                </c:pt>
                <c:pt idx="4">
                  <c:v>6100</c:v>
                </c:pt>
                <c:pt idx="5">
                  <c:v>4900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19-4B26-934D-FA5C417608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FFB3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55D-4DF9-8676-825757949D95}"/>
              </c:ext>
            </c:extLst>
          </c:dPt>
          <c:dPt>
            <c:idx val="1"/>
            <c:invertIfNegative val="0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5D-4DF9-8676-825757949D95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55D-4DF9-8676-825757949D95}"/>
              </c:ext>
            </c:extLst>
          </c:dPt>
          <c:dPt>
            <c:idx val="3"/>
            <c:invertIfNegative val="0"/>
            <c:bubble3D val="0"/>
            <c:spPr>
              <a:solidFill>
                <a:srgbClr val="2D3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55D-4DF9-8676-825757949D9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Blue</c:v>
                </c:pt>
                <c:pt idx="1">
                  <c:v>Silver</c:v>
                </c:pt>
                <c:pt idx="2">
                  <c:v>Gold</c:v>
                </c:pt>
                <c:pt idx="3">
                  <c:v>Platinum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4.5999999999999996</c:v>
                </c:pt>
                <c:pt idx="1">
                  <c:v>2.2000000000000002</c:v>
                </c:pt>
                <c:pt idx="2">
                  <c:v>1.1000000000000001</c:v>
                </c:pt>
                <c:pt idx="3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55D-4DF9-8676-825757949D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FFB3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B300"/>
              </a:solidFill>
              <a:ln w="9525" cap="flat">
                <a:solidFill>
                  <a:srgbClr val="FFB3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</c:v>
                </c:pt>
                <c:pt idx="1">
                  <c:v>2.1</c:v>
                </c:pt>
                <c:pt idx="2">
                  <c:v>2.2999999999999998</c:v>
                </c:pt>
                <c:pt idx="3">
                  <c:v>2.4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2E8-4C36-95B3-C64477FF50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Delinquent Count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Self-Employed</c:v>
                </c:pt>
                <c:pt idx="1">
                  <c:v>Blue-collar</c:v>
                </c:pt>
                <c:pt idx="2">
                  <c:v>Businessman</c:v>
                </c:pt>
                <c:pt idx="3">
                  <c:v>White-collar</c:v>
                </c:pt>
                <c:pt idx="4">
                  <c:v>Govt</c:v>
                </c:pt>
                <c:pt idx="5">
                  <c:v>Retirees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620</c:v>
                </c:pt>
                <c:pt idx="1">
                  <c:v>540</c:v>
                </c:pt>
                <c:pt idx="2">
                  <c:v>390</c:v>
                </c:pt>
                <c:pt idx="3">
                  <c:v>310</c:v>
                </c:pt>
                <c:pt idx="4">
                  <c:v>240</c:v>
                </c:pt>
                <c:pt idx="5">
                  <c:v>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32-45E0-A48F-70DEFD9D2D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19F-4E97-8BEC-91F5923DC006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9F-4E97-8BEC-91F5923DC006}"/>
              </c:ext>
            </c:extLst>
          </c:dPt>
          <c:dPt>
            <c:idx val="2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19F-4E97-8BEC-91F5923DC006}"/>
              </c:ext>
            </c:extLst>
          </c:dPt>
          <c:dPt>
            <c:idx val="3"/>
            <c:bubble3D val="0"/>
            <c:spPr>
              <a:solidFill>
                <a:srgbClr val="2D3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19F-4E97-8BEC-91F5923DC00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9F-4E97-8BEC-91F5923DC00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19F-4E97-8BEC-91F5923DC00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19F-4E97-8BEC-91F5923DC00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19F-4E97-8BEC-91F5923DC00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Blue</c:v>
                </c:pt>
                <c:pt idx="1">
                  <c:v>Silver</c:v>
                </c:pt>
                <c:pt idx="2">
                  <c:v>Gold</c:v>
                </c:pt>
                <c:pt idx="3">
                  <c:v>Platinum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27</c:v>
                </c:pt>
                <c:pt idx="2">
                  <c:v>21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19F-4E97-8BEC-91F5923DC0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23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2D3A8C">
              <a:alpha val="40000"/>
            </a:srgbClr>
          </a:solidFill>
          <a:ln w="12700">
            <a:solidFill>
              <a:srgbClr val="2D3A8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194560" cy="2194560"/>
          </a:xfrm>
          <a:prstGeom prst="ellipse">
            <a:avLst/>
          </a:prstGeom>
          <a:solidFill>
            <a:srgbClr val="FFB300">
              <a:alpha val="20000"/>
            </a:srgbClr>
          </a:solidFill>
          <a:ln w="12700">
            <a:solidFill>
              <a:srgbClr val="FFB30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2286000"/>
            <a:ext cx="1097280" cy="1097280"/>
          </a:xfrm>
          <a:prstGeom prst="ellipse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EXECUTIVE PRESENTATION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Analytics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· Transaction Trends · Risk Intelligence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18688"/>
            <a:ext cx="5029200" cy="32004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01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PostgreSQL 17  ·  Power BI  ·  SQL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Analytics Portfolio Project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132320" y="13716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project examining credit card customer profiles, spending behavior, and financial risk indicators using PostgreSQL and Power BI.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2011680" cy="502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3317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9443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450592" y="16916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1691640"/>
            <a:ext cx="20116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50592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23317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96312" y="29443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626864" y="16916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1691640"/>
            <a:ext cx="2011680" cy="5029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26864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23317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72584" y="29443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803136" y="16916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03136" y="1691640"/>
            <a:ext cx="20116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803136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233172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48856" y="29443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Credit Card Financial Analytics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109728" cy="1371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8755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10,293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segments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04872" y="9144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04872" y="914400"/>
            <a:ext cx="109728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98755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Yrs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87752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87752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35–55 bracket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81144" y="9144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81144" y="914400"/>
            <a:ext cx="109728" cy="13716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98755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64024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64024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household income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57416" y="91440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57416" y="914400"/>
            <a:ext cx="109728" cy="137160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0296" y="98755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/ 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0296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0296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rating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</a:t>
            </a:r>
            <a:endParaRPr lang="en-US" sz="13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274320" y="2788920"/>
          <a:ext cx="38404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4754880" y="2450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Category Breakdown</a:t>
            </a:r>
            <a:endParaRPr lang="en-US" sz="1300" dirty="0"/>
          </a:p>
        </p:txBody>
      </p:sp>
      <p:graphicFrame>
        <p:nvGraphicFramePr>
          <p:cNvPr id="28" name="Chart 1"/>
          <p:cNvGraphicFramePr/>
          <p:nvPr/>
        </p:nvGraphicFramePr>
        <p:xfrm>
          <a:off x="4572000" y="2788920"/>
          <a:ext cx="42976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Shape 2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Credit Card Financial Analytics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BEHAVIOR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65176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 Amt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14400"/>
            <a:ext cx="2651760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15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656K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14400"/>
            <a:ext cx="2651760" cy="1645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115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$69.4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 Value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084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Transaction Amount Trend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274320" y="2423160"/>
          <a:ext cx="5029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5486400" y="2084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Expenditure Types</a:t>
            </a:r>
            <a:endParaRPr lang="en-US" sz="1300" dirty="0"/>
          </a:p>
        </p:txBody>
      </p:sp>
      <p:graphicFrame>
        <p:nvGraphicFramePr>
          <p:cNvPr id="20" name="Chart 1"/>
          <p:cNvGraphicFramePr/>
          <p:nvPr/>
        </p:nvGraphicFramePr>
        <p:xfrm>
          <a:off x="5349240" y="2423160"/>
          <a:ext cx="35204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Credit Card Financial Analytics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011680" cy="14630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$8.6M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38328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04872" y="9144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04872" y="914400"/>
            <a:ext cx="2011680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Earned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81144" y="9144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81144" y="914400"/>
            <a:ext cx="2011680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90872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Revenue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57416" y="9144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57416" y="914400"/>
            <a:ext cx="2011680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67144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Acq. Cost (Total)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084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Card Category</a:t>
            </a:r>
            <a:endParaRPr lang="en-US" sz="13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74320" y="242316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4754880" y="2084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Trend</a:t>
            </a:r>
            <a:endParaRPr lang="en-US" sz="1300" dirty="0"/>
          </a:p>
        </p:txBody>
      </p:sp>
      <p:graphicFrame>
        <p:nvGraphicFramePr>
          <p:cNvPr id="24" name="Chart 1"/>
          <p:cNvGraphicFramePr/>
          <p:nvPr/>
        </p:nvGraphicFramePr>
        <p:xfrm>
          <a:off x="4572000" y="2423160"/>
          <a:ext cx="42976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hape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Credit Card Financial Analytics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DELINQUENCY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011680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2,253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38328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Delinquent Accounts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04872" y="9144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04872" y="914400"/>
            <a:ext cx="2011680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81144" y="9144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81144" y="914400"/>
            <a:ext cx="2011680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90872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Utilization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57416" y="9144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57416" y="914400"/>
            <a:ext cx="2011680" cy="146304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$12.5M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67144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Revolving Bal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084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by Customer Job</a:t>
            </a:r>
            <a:endParaRPr lang="en-US" sz="13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74320" y="2423160"/>
          <a:ext cx="42976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4937760" y="2084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Utilization by Card Category</a:t>
            </a:r>
            <a:endParaRPr lang="en-US" sz="1300" dirty="0"/>
          </a:p>
        </p:txBody>
      </p:sp>
      <p:graphicFrame>
        <p:nvGraphicFramePr>
          <p:cNvPr id="24" name="Chart 1"/>
          <p:cNvGraphicFramePr/>
          <p:nvPr/>
        </p:nvGraphicFramePr>
        <p:xfrm>
          <a:off x="4754880" y="242316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hape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Credit Card Financial Analytics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502920" cy="1188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0698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Card Dominates Revenue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category contributes 53% of total revenue. Loyalty &amp; upgrade programs can upsell customers to Silver/Gold tiers.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960120"/>
            <a:ext cx="50292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96012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85232" y="10698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Drives Peak Transactions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85232" y="1417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 spikes significantly in Q4. Targeted promotional campaigns during this window can maximize revenue.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286000"/>
            <a:ext cx="50292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28600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395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 Highest Risk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7432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 customers show the highest delinquency rate. Stricter credit screening and lower limits recommended.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90872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2286000"/>
            <a:ext cx="502920" cy="1188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228600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85232" y="2395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More Active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85232" y="27432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segment (53%) shows higher transaction frequency. Gender-specific product bundling could improve engagement.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611880"/>
            <a:ext cx="502920" cy="1188720"/>
          </a:xfrm>
          <a:prstGeom prst="rect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6118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7216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Earned = 35% Revenue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4069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earned contributes $3M of $8.6M revenue. Improving revolving balance management boosts profitability.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90872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90872" y="3611880"/>
            <a:ext cx="50292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36118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85232" y="37216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= Top Spending Category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85232" y="4069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&amp; utilities account for the highest expenditure type — an opportunity for EMI conversion product offerings.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Credit Card Financial Analytics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097280"/>
            <a:ext cx="685800" cy="6858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097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487168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files loaded into PostgreSQL 17 using COPY command with datestyle configuration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58568" y="2176272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96012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72384" y="1097280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1097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42032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487168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 via ctid-based SQL, NULL handling, date format standardization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2176272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96012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48656" y="1097280"/>
            <a:ext cx="685800" cy="6858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8656" y="1097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18304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2487168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with cust_detail &amp; cc_detail tables joined on Client_Num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11112" y="2176272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96012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24928" y="1097280"/>
            <a:ext cx="685800" cy="685800"/>
          </a:xfrm>
          <a:prstGeom prst="ellipse">
            <a:avLst/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24928" y="1097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94576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12864" y="2487168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with slicers, KPI cards, and drill-through capabilities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61772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617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 17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39112" y="461772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39112" y="4617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SQL (DDL + DML)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03904" y="461772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03904" y="4617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 BI Desktop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68696" y="461772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68696" y="4617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DAX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33488" y="461772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33488" y="4617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CSV Data Pipeline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Credit Card Financial Analytics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2D3A8C">
              <a:alpha val="40000"/>
            </a:srgbClr>
          </a:solidFill>
          <a:ln w="12700">
            <a:solidFill>
              <a:srgbClr val="2D3A8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926080" cy="2926080"/>
          </a:xfrm>
          <a:prstGeom prst="ellipse">
            <a:avLst/>
          </a:prstGeom>
          <a:solidFill>
            <a:srgbClr val="FFB300">
              <a:alpha val="20000"/>
            </a:srgbClr>
          </a:solidFill>
          <a:ln w="12700">
            <a:solidFill>
              <a:srgbClr val="FFB30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 &amp; attention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4572000" cy="36576"/>
          </a:xfrm>
          <a:prstGeom prst="rect">
            <a:avLst/>
          </a:prstGeom>
          <a:solidFill>
            <a:srgbClr val="4FC3F7">
              <a:alpha val="60000"/>
            </a:srgbClr>
          </a:solidFill>
          <a:ln w="1270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questions, feedback &amp; collaboration.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5029200" cy="1097280"/>
          </a:xfrm>
          <a:prstGeom prst="rect">
            <a:avLst/>
          </a:prstGeom>
          <a:solidFill>
            <a:srgbClr val="2D3A8C">
              <a:alpha val="60000"/>
            </a:srgbClr>
          </a:solidFill>
          <a:ln w="12700">
            <a:solidFill>
              <a:srgbClr val="2D3A8C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6118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github.com/Japdeep123
</a:t>
            </a: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https://www.linkedin.com/in/japdeep-singh-15713b325/
</a:t>
            </a: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Repo: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credit-card-financial-analytics-project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511</Words>
  <Application>Microsoft Office PowerPoint</Application>
  <PresentationFormat>On-screen Show (16:9)</PresentationFormat>
  <Paragraphs>130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Financial Analytics</dc:title>
  <dc:subject>PptxGenJS Presentation</dc:subject>
  <dc:creator>Analytics Team</dc:creator>
  <cp:lastModifiedBy>Japdeep Singh</cp:lastModifiedBy>
  <cp:revision>1</cp:revision>
  <dcterms:created xsi:type="dcterms:W3CDTF">2026-05-03T07:42:49Z</dcterms:created>
  <dcterms:modified xsi:type="dcterms:W3CDTF">2026-07-20T13:52:14Z</dcterms:modified>
</cp:coreProperties>
</file>